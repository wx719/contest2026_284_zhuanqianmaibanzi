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24F09E-F445-4422-8393-FD1897C7B7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CC9BFE-28A2-495D-A042-CCB5AE3734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06469F-549A-4115-B4CB-62072FFBEC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003FC-BF6B-4657-8EF5-13A731D009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848AE2-A529-4B6C-807E-E394589068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E98C4D-9603-42C3-B5DF-2A7ABC99EA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7338A8-30DF-4176-AFCB-F8846E180D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5419F1-717F-454C-BC24-FEA80262D1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F6CEF5-D89B-4BAC-95AA-289F396B77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BBAB76-D31D-4A60-876C-001A189BE3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F56B1-CE22-485C-8853-93C339F753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C956B2-F5D2-4DF3-B0CB-81599A2789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752B270-EE2F-4F50-AC02-B04F1CBD779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42" name=""/>
          <p:cNvSpPr/>
          <p:nvPr/>
        </p:nvSpPr>
        <p:spPr>
          <a:xfrm>
            <a:off x="0" y="0"/>
            <a:ext cx="234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43" name=""/>
          <p:cNvSpPr txBox="1"/>
          <p:nvPr/>
        </p:nvSpPr>
        <p:spPr>
          <a:xfrm>
            <a:off x="540000" y="432000"/>
            <a:ext cx="4320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300" spc="-1" strike="noStrike">
                <a:solidFill>
                  <a:srgbClr val="35d0e5"/>
                </a:solidFill>
                <a:latin typeface="Noto Sans CJK SC"/>
              </a:rPr>
              <a:t>OPENVELA AI CONTEST 2026</a:t>
            </a:r>
            <a:endParaRPr b="1" lang="en-US" sz="13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40000" y="1188000"/>
            <a:ext cx="6840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4600" spc="-1" strike="noStrike">
                <a:solidFill>
                  <a:srgbClr val="f4f8fc"/>
                </a:solidFill>
                <a:latin typeface="Noto Sans CJK SC"/>
              </a:rPr>
              <a:t>VelaPoka</a:t>
            </a:r>
            <a:endParaRPr b="1" lang="en-US" sz="4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58000" y="1872000"/>
            <a:ext cx="7200000" cy="43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700" spc="-1" strike="noStrike">
                <a:solidFill>
                  <a:srgbClr val="f4f8fc"/>
                </a:solidFill>
                <a:latin typeface="Noto Sans CJK SC"/>
              </a:rPr>
              <a:t>可配置视觉装配防错终端</a:t>
            </a:r>
            <a:endParaRPr b="1" lang="en-US" sz="2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68800" y="2430000"/>
            <a:ext cx="6840000" cy="30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固定工位 </a:t>
            </a:r>
            <a:r>
              <a:rPr b="0" lang="en-US" sz="1700" spc="-1" strike="noStrike">
                <a:solidFill>
                  <a:srgbClr val="afc3d5"/>
                </a:solidFill>
                <a:latin typeface="Noto Sans CJK SC"/>
              </a:rPr>
              <a:t>· </a:t>
            </a:r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本地检测 </a:t>
            </a:r>
            <a:r>
              <a:rPr b="0" lang="en-US" sz="1700" spc="-1" strike="noStrike">
                <a:solidFill>
                  <a:srgbClr val="afc3d5"/>
                </a:solidFill>
                <a:latin typeface="Noto Sans CJK SC"/>
              </a:rPr>
              <a:t>· </a:t>
            </a:r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质量追溯 </a:t>
            </a:r>
            <a:r>
              <a:rPr b="0" lang="en-US" sz="1700" spc="-1" strike="noStrike">
                <a:solidFill>
                  <a:srgbClr val="afc3d5"/>
                </a:solidFill>
                <a:latin typeface="Noto Sans CJK SC"/>
              </a:rPr>
              <a:t>· </a:t>
            </a:r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有线导出</a:t>
            </a:r>
            <a:endParaRPr b="0" lang="en-US" sz="17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47" name=""/>
          <p:cNvSpPr/>
          <p:nvPr/>
        </p:nvSpPr>
        <p:spPr>
          <a:xfrm>
            <a:off x="8280000" y="900000"/>
            <a:ext cx="2952000" cy="33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48" name=""/>
          <p:cNvSpPr txBox="1"/>
          <p:nvPr/>
        </p:nvSpPr>
        <p:spPr>
          <a:xfrm>
            <a:off x="8820000" y="1278000"/>
            <a:ext cx="187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200" spc="-1" strike="noStrike">
                <a:solidFill>
                  <a:srgbClr val="35d0e5"/>
                </a:solidFill>
                <a:latin typeface="Noto Sans CJK SC"/>
              </a:rPr>
              <a:t>SC2336</a:t>
            </a:r>
            <a:endParaRPr b="1" lang="en-US" sz="22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360000" y="1692000"/>
            <a:ext cx="79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600" spc="-1" strike="noStrike">
                <a:solidFill>
                  <a:srgbClr val="afc3d5"/>
                </a:solidFill>
                <a:latin typeface="Noto Sans CJK SC"/>
              </a:rPr>
              <a:t>↓</a:t>
            </a:r>
            <a:endParaRPr b="1" lang="en-US" sz="26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820000" y="2088000"/>
            <a:ext cx="187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2200" spc="-1" strike="noStrike">
                <a:solidFill>
                  <a:srgbClr val="f4f8fc"/>
                </a:solidFill>
                <a:latin typeface="Noto Sans CJK SC"/>
              </a:rPr>
              <a:t>视觉检测</a:t>
            </a:r>
            <a:endParaRPr b="1" lang="en-US" sz="22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360000" y="2502000"/>
            <a:ext cx="79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600" spc="-1" strike="noStrike">
                <a:solidFill>
                  <a:srgbClr val="afc3d5"/>
                </a:solidFill>
                <a:latin typeface="Noto Sans CJK SC"/>
              </a:rPr>
              <a:t>↓</a:t>
            </a:r>
            <a:endParaRPr b="1" lang="en-US" sz="26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712000" y="2898000"/>
            <a:ext cx="2088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200" spc="-1" strike="noStrike">
                <a:solidFill>
                  <a:srgbClr val="58d68d"/>
                </a:solidFill>
                <a:latin typeface="Noto Sans CJK SC"/>
              </a:rPr>
              <a:t>PASS / FAIL</a:t>
            </a:r>
            <a:endParaRPr b="1" lang="en-US" sz="22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460000" y="3636000"/>
            <a:ext cx="259200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ESP32-P4X-Function-EV-Board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openvela / NuttX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58000" y="6210000"/>
            <a:ext cx="5400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参赛者：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wx719   ·   2026.09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56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57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项目内容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02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9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为什么做 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VelaPoka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？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88800" y="936000"/>
            <a:ext cx="11400120" cy="27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300" spc="-1" strike="noStrike">
                <a:solidFill>
                  <a:srgbClr val="afc3d5"/>
                </a:solidFill>
                <a:latin typeface="Noto Sans CJK SC"/>
              </a:rPr>
              <a:t>把固定工位的人工目检，变成可解释、可追溯的离线视觉检查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63" name=""/>
          <p:cNvSpPr/>
          <p:nvPr/>
        </p:nvSpPr>
        <p:spPr>
          <a:xfrm>
            <a:off x="432000" y="1476000"/>
            <a:ext cx="3528000" cy="349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64" name=""/>
          <p:cNvSpPr/>
          <p:nvPr/>
        </p:nvSpPr>
        <p:spPr>
          <a:xfrm>
            <a:off x="432000" y="1476000"/>
            <a:ext cx="43200" cy="3492000"/>
          </a:xfrm>
          <a:prstGeom prst="rect">
            <a:avLst/>
          </a:prstGeom>
          <a:solidFill>
            <a:srgbClr val="ff5c68"/>
          </a:solidFill>
          <a:ln w="12600">
            <a:solidFill>
              <a:srgbClr val="ff5c68"/>
            </a:solidFill>
            <a:round/>
          </a:ln>
        </p:spPr>
      </p:sp>
      <p:sp>
        <p:nvSpPr>
          <p:cNvPr id="65" name=""/>
          <p:cNvSpPr txBox="1"/>
          <p:nvPr/>
        </p:nvSpPr>
        <p:spPr>
          <a:xfrm>
            <a:off x="583200" y="1584000"/>
            <a:ext cx="327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5c68"/>
                </a:solidFill>
                <a:latin typeface="Noto Sans CJK SC"/>
              </a:rPr>
              <a:t>现场痛点 </a:t>
            </a:r>
            <a:r>
              <a:rPr b="1" lang="en-US" sz="1000" spc="-1" strike="noStrike">
                <a:solidFill>
                  <a:srgbClr val="ff5c68"/>
                </a:solidFill>
                <a:latin typeface="Noto Sans CJK SC"/>
              </a:rPr>
              <a:t>01</a:t>
            </a:r>
            <a:endParaRPr b="1" lang="en-US" sz="1000" spc="-1" strike="noStrike">
              <a:solidFill>
                <a:srgbClr val="ff5c68"/>
              </a:solidFill>
              <a:latin typeface="Noto Sans CJK SC"/>
              <a:ea typeface="Noto Sans CJK SC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83200" y="1782000"/>
            <a:ext cx="327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人工目检易疲劳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83200" y="2088000"/>
            <a:ext cx="3258000" cy="277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漏装、反装、位置偏移依赖经验判断；重复作业中一致性难以保证。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68" name=""/>
          <p:cNvSpPr/>
          <p:nvPr/>
        </p:nvSpPr>
        <p:spPr>
          <a:xfrm>
            <a:off x="4338000" y="1476000"/>
            <a:ext cx="3528000" cy="349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69" name=""/>
          <p:cNvSpPr/>
          <p:nvPr/>
        </p:nvSpPr>
        <p:spPr>
          <a:xfrm>
            <a:off x="4338000" y="1476000"/>
            <a:ext cx="43200" cy="3492000"/>
          </a:xfrm>
          <a:prstGeom prst="rect">
            <a:avLst/>
          </a:prstGeom>
          <a:solidFill>
            <a:srgbClr val="ffbe55"/>
          </a:solidFill>
          <a:ln w="12600">
            <a:solidFill>
              <a:srgbClr val="ffbe55"/>
            </a:solidFill>
            <a:round/>
          </a:ln>
        </p:spPr>
      </p:sp>
      <p:sp>
        <p:nvSpPr>
          <p:cNvPr id="70" name=""/>
          <p:cNvSpPr txBox="1"/>
          <p:nvPr/>
        </p:nvSpPr>
        <p:spPr>
          <a:xfrm>
            <a:off x="4489200" y="1584000"/>
            <a:ext cx="327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be55"/>
                </a:solidFill>
                <a:latin typeface="Noto Sans CJK SC"/>
              </a:rPr>
              <a:t>现场痛点 </a:t>
            </a:r>
            <a:r>
              <a:rPr b="1" lang="en-US" sz="1000" spc="-1" strike="noStrike">
                <a:solidFill>
                  <a:srgbClr val="ffbe55"/>
                </a:solidFill>
                <a:latin typeface="Noto Sans CJK SC"/>
              </a:rPr>
              <a:t>02</a:t>
            </a:r>
            <a:endParaRPr b="1" lang="en-US" sz="10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489200" y="1782000"/>
            <a:ext cx="327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通用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AI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成本高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489200" y="2088000"/>
            <a:ext cx="3258000" cy="277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固定产品并不需要复杂模型。固定相机、照明与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ROI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，可以换取更稳定的结果。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73" name=""/>
          <p:cNvSpPr/>
          <p:nvPr/>
        </p:nvSpPr>
        <p:spPr>
          <a:xfrm>
            <a:off x="8244000" y="1476000"/>
            <a:ext cx="3528000" cy="349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74" name=""/>
          <p:cNvSpPr/>
          <p:nvPr/>
        </p:nvSpPr>
        <p:spPr>
          <a:xfrm>
            <a:off x="8244000" y="1476000"/>
            <a:ext cx="43200" cy="3492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75" name=""/>
          <p:cNvSpPr txBox="1"/>
          <p:nvPr/>
        </p:nvSpPr>
        <p:spPr>
          <a:xfrm>
            <a:off x="8395200" y="1584000"/>
            <a:ext cx="327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解决方案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395200" y="1782000"/>
            <a:ext cx="327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端侧闭环终端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395200" y="2088000"/>
            <a:ext cx="3258000" cy="277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标准件录入 → 实时检测 → 红框提示 →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MicroSD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留档 →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RJ45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查询导出。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79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80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系统架构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03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82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一块主板完成采集、计算、交互与追溯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85" name=""/>
          <p:cNvSpPr/>
          <p:nvPr/>
        </p:nvSpPr>
        <p:spPr>
          <a:xfrm>
            <a:off x="540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86" name=""/>
          <p:cNvSpPr txBox="1"/>
          <p:nvPr/>
        </p:nvSpPr>
        <p:spPr>
          <a:xfrm>
            <a:off x="630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SC2336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2MP MIPI-CSI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87" name=""/>
          <p:cNvSpPr/>
          <p:nvPr/>
        </p:nvSpPr>
        <p:spPr>
          <a:xfrm>
            <a:off x="2808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ffbe55"/>
            </a:solidFill>
            <a:round/>
          </a:ln>
        </p:spPr>
      </p:sp>
      <p:sp>
        <p:nvSpPr>
          <p:cNvPr id="88" name=""/>
          <p:cNvSpPr txBox="1"/>
          <p:nvPr/>
        </p:nvSpPr>
        <p:spPr>
          <a:xfrm>
            <a:off x="2898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ESP32-P4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双核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RISC-V + 32MB PSRAM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89" name=""/>
          <p:cNvSpPr/>
          <p:nvPr/>
        </p:nvSpPr>
        <p:spPr>
          <a:xfrm>
            <a:off x="5940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90" name=""/>
          <p:cNvSpPr txBox="1"/>
          <p:nvPr/>
        </p:nvSpPr>
        <p:spPr>
          <a:xfrm>
            <a:off x="6030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灰度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/ ROI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模板差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+ </a:t>
            </a: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边缘差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91" name=""/>
          <p:cNvSpPr/>
          <p:nvPr/>
        </p:nvSpPr>
        <p:spPr>
          <a:xfrm>
            <a:off x="8676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ff5c68"/>
            </a:solidFill>
            <a:round/>
          </a:ln>
        </p:spPr>
      </p:sp>
      <p:sp>
        <p:nvSpPr>
          <p:cNvPr id="92" name=""/>
          <p:cNvSpPr txBox="1"/>
          <p:nvPr/>
        </p:nvSpPr>
        <p:spPr>
          <a:xfrm>
            <a:off x="8766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PASS / FAIL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得分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+ </a:t>
            </a: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异常框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93" name=""/>
          <p:cNvSpPr/>
          <p:nvPr/>
        </p:nvSpPr>
        <p:spPr>
          <a:xfrm>
            <a:off x="2466000" y="2160000"/>
            <a:ext cx="306000" cy="0"/>
          </a:xfrm>
          <a:prstGeom prst="line">
            <a:avLst/>
          </a:prstGeom>
          <a:ln w="27000">
            <a:solidFill>
              <a:srgbClr val="35d0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95" name=""/>
          <p:cNvSpPr/>
          <p:nvPr/>
        </p:nvSpPr>
        <p:spPr>
          <a:xfrm>
            <a:off x="5598000" y="2160000"/>
            <a:ext cx="306000" cy="0"/>
          </a:xfrm>
          <a:prstGeom prst="line">
            <a:avLst/>
          </a:prstGeom>
          <a:ln w="27000">
            <a:solidFill>
              <a:srgbClr val="35d0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97" name=""/>
          <p:cNvSpPr/>
          <p:nvPr/>
        </p:nvSpPr>
        <p:spPr>
          <a:xfrm>
            <a:off x="8334000" y="2160000"/>
            <a:ext cx="306000" cy="0"/>
          </a:xfrm>
          <a:prstGeom prst="line">
            <a:avLst/>
          </a:prstGeom>
          <a:ln w="27000">
            <a:solidFill>
              <a:srgbClr val="35d0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99" name=""/>
          <p:cNvSpPr/>
          <p:nvPr/>
        </p:nvSpPr>
        <p:spPr>
          <a:xfrm>
            <a:off x="972000" y="3492000"/>
            <a:ext cx="3168000" cy="1260000"/>
          </a:xfrm>
          <a:prstGeom prst="roundRect">
            <a:avLst/>
          </a:prstGeom>
          <a:solidFill>
            <a:srgbClr val="19364e"/>
          </a:solidFill>
          <a:ln w="12600">
            <a:solidFill>
              <a:srgbClr val="2c4960"/>
            </a:solidFill>
            <a:round/>
          </a:ln>
        </p:spPr>
      </p:sp>
      <p:sp>
        <p:nvSpPr>
          <p:cNvPr id="100" name=""/>
          <p:cNvSpPr txBox="1"/>
          <p:nvPr/>
        </p:nvSpPr>
        <p:spPr>
          <a:xfrm>
            <a:off x="1080000" y="3636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700" spc="-1" strike="noStrike">
                <a:solidFill>
                  <a:srgbClr val="35d0e5"/>
                </a:solidFill>
                <a:latin typeface="Noto Sans CJK SC"/>
              </a:rPr>
              <a:t>7 </a:t>
            </a:r>
            <a:r>
              <a:rPr b="1" lang="zh-CN" sz="1700" spc="-1" strike="noStrike">
                <a:solidFill>
                  <a:srgbClr val="35d0e5"/>
                </a:solidFill>
                <a:latin typeface="Noto Sans CJK SC"/>
              </a:rPr>
              <a:t>英寸触摸屏</a:t>
            </a:r>
            <a:endParaRPr b="1" lang="en-US" sz="17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080000" y="3996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实时画面、状态、红框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02" name=""/>
          <p:cNvSpPr/>
          <p:nvPr/>
        </p:nvSpPr>
        <p:spPr>
          <a:xfrm>
            <a:off x="4428000" y="3492000"/>
            <a:ext cx="3168000" cy="1260000"/>
          </a:xfrm>
          <a:prstGeom prst="roundRect">
            <a:avLst/>
          </a:prstGeom>
          <a:solidFill>
            <a:srgbClr val="19364e"/>
          </a:solidFill>
          <a:ln w="12600">
            <a:solidFill>
              <a:srgbClr val="2c4960"/>
            </a:solidFill>
            <a:round/>
          </a:ln>
        </p:spPr>
      </p:sp>
      <p:sp>
        <p:nvSpPr>
          <p:cNvPr id="103" name=""/>
          <p:cNvSpPr txBox="1"/>
          <p:nvPr/>
        </p:nvSpPr>
        <p:spPr>
          <a:xfrm>
            <a:off x="4536000" y="3636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700" spc="-1" strike="noStrike">
                <a:solidFill>
                  <a:srgbClr val="35d0e5"/>
                </a:solidFill>
                <a:latin typeface="Noto Sans CJK SC"/>
              </a:rPr>
              <a:t>MicroSD</a:t>
            </a:r>
            <a:endParaRPr b="1" lang="en-US" sz="17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536000" y="3996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模板、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JSONL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FAIL BMP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05" name=""/>
          <p:cNvSpPr/>
          <p:nvPr/>
        </p:nvSpPr>
        <p:spPr>
          <a:xfrm>
            <a:off x="7920000" y="3492000"/>
            <a:ext cx="3168000" cy="1260000"/>
          </a:xfrm>
          <a:prstGeom prst="roundRect">
            <a:avLst/>
          </a:prstGeom>
          <a:solidFill>
            <a:srgbClr val="19364e"/>
          </a:solidFill>
          <a:ln w="12600">
            <a:solidFill>
              <a:srgbClr val="2c4960"/>
            </a:solidFill>
            <a:round/>
          </a:ln>
        </p:spPr>
      </p:sp>
      <p:sp>
        <p:nvSpPr>
          <p:cNvPr id="106" name=""/>
          <p:cNvSpPr txBox="1"/>
          <p:nvPr/>
        </p:nvSpPr>
        <p:spPr>
          <a:xfrm>
            <a:off x="8028000" y="3636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700" spc="-1" strike="noStrike">
                <a:solidFill>
                  <a:srgbClr val="35d0e5"/>
                </a:solidFill>
                <a:latin typeface="Noto Sans CJK SC"/>
              </a:rPr>
              <a:t>RJ45 Ethernet</a:t>
            </a:r>
            <a:endParaRPr b="1" lang="en-US" sz="17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028000" y="3996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HTTP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状态、记录与图片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109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110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业务流程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04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12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从标准样本到结果导出的完整闭环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15" name=""/>
          <p:cNvSpPr/>
          <p:nvPr/>
        </p:nvSpPr>
        <p:spPr>
          <a:xfrm>
            <a:off x="378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16" name=""/>
          <p:cNvSpPr txBox="1"/>
          <p:nvPr/>
        </p:nvSpPr>
        <p:spPr>
          <a:xfrm>
            <a:off x="504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01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04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自动启动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04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外设自检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恢复历史与模板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19" name=""/>
          <p:cNvSpPr/>
          <p:nvPr/>
        </p:nvSpPr>
        <p:spPr>
          <a:xfrm>
            <a:off x="2188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21" name=""/>
          <p:cNvSpPr/>
          <p:nvPr/>
        </p:nvSpPr>
        <p:spPr>
          <a:xfrm>
            <a:off x="2286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22" name=""/>
          <p:cNvSpPr txBox="1"/>
          <p:nvPr/>
        </p:nvSpPr>
        <p:spPr>
          <a:xfrm>
            <a:off x="2412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02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412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录入标准件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412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连续 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3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帧平均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保存参考模板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25" name=""/>
          <p:cNvSpPr/>
          <p:nvPr/>
        </p:nvSpPr>
        <p:spPr>
          <a:xfrm>
            <a:off x="4096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27" name=""/>
          <p:cNvSpPr/>
          <p:nvPr/>
        </p:nvSpPr>
        <p:spPr>
          <a:xfrm>
            <a:off x="4194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28" name=""/>
          <p:cNvSpPr txBox="1"/>
          <p:nvPr/>
        </p:nvSpPr>
        <p:spPr>
          <a:xfrm>
            <a:off x="4320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03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320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触发检测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320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冻结当前帧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进入检测线程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31" name=""/>
          <p:cNvSpPr/>
          <p:nvPr/>
        </p:nvSpPr>
        <p:spPr>
          <a:xfrm>
            <a:off x="6004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33" name=""/>
          <p:cNvSpPr/>
          <p:nvPr/>
        </p:nvSpPr>
        <p:spPr>
          <a:xfrm>
            <a:off x="6102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34" name=""/>
          <p:cNvSpPr txBox="1"/>
          <p:nvPr/>
        </p:nvSpPr>
        <p:spPr>
          <a:xfrm>
            <a:off x="6228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04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228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差异分析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228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亮度归一化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块差与边缘差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37" name=""/>
          <p:cNvSpPr/>
          <p:nvPr/>
        </p:nvSpPr>
        <p:spPr>
          <a:xfrm>
            <a:off x="7912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39" name=""/>
          <p:cNvSpPr/>
          <p:nvPr/>
        </p:nvSpPr>
        <p:spPr>
          <a:xfrm>
            <a:off x="8010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40" name=""/>
          <p:cNvSpPr txBox="1"/>
          <p:nvPr/>
        </p:nvSpPr>
        <p:spPr>
          <a:xfrm>
            <a:off x="8136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05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8136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结果反馈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136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PASS / FAIL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异常区域红框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43" name=""/>
          <p:cNvSpPr/>
          <p:nvPr/>
        </p:nvSpPr>
        <p:spPr>
          <a:xfrm>
            <a:off x="9820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45" name=""/>
          <p:cNvSpPr/>
          <p:nvPr/>
        </p:nvSpPr>
        <p:spPr>
          <a:xfrm>
            <a:off x="9918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146" name=""/>
          <p:cNvSpPr txBox="1"/>
          <p:nvPr/>
        </p:nvSpPr>
        <p:spPr>
          <a:xfrm>
            <a:off x="10044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06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0044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留档导出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0044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JSONL + BMP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RJ45 HTTP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查询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12000" y="4860000"/>
            <a:ext cx="10800000" cy="360000"/>
          </a:xfrm>
          <a:prstGeom prst="rect">
            <a:avLst/>
          </a:prstGeom>
          <a:solidFill>
            <a:srgbClr val="0e2235"/>
          </a:solidFill>
          <a:ln w="10800">
            <a:solidFill>
              <a:srgbClr val="2c4960"/>
            </a:solidFill>
            <a:round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zh-CN" sz="1400" spc="-1" strike="noStrike">
                <a:solidFill>
                  <a:srgbClr val="f4f8fc"/>
                </a:solidFill>
                <a:latin typeface="Noto Sans CJK SC"/>
              </a:rPr>
              <a:t>状态机：</a:t>
            </a:r>
            <a:r>
              <a:rPr b="1" lang="en-US" sz="1400" spc="-1" strike="noStrike">
                <a:solidFill>
                  <a:srgbClr val="f4f8fc"/>
                </a:solidFill>
                <a:latin typeface="Noto Sans CJK SC"/>
              </a:rPr>
              <a:t>STARTUP → SELF_TEST → READY → CAPTURE → INSPECT → PASS / FAIL → SAVE_RESULT</a:t>
            </a:r>
            <a:endParaRPr b="1" lang="en-US" sz="14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151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152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核心能力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05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54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比赛演示已闭环的 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5 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项能力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57" name=""/>
          <p:cNvSpPr/>
          <p:nvPr/>
        </p:nvSpPr>
        <p:spPr>
          <a:xfrm>
            <a:off x="432000" y="1476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58" name=""/>
          <p:cNvSpPr txBox="1"/>
          <p:nvPr/>
        </p:nvSpPr>
        <p:spPr>
          <a:xfrm>
            <a:off x="576000" y="1656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35d0e5"/>
                </a:solidFill>
                <a:latin typeface="Noto Sans CJK SC"/>
              </a:rPr>
              <a:t>01</a:t>
            </a:r>
            <a:endParaRPr b="1" lang="en-US" sz="15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062000" y="1638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实时预览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062000" y="2034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SC2336 RAW10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512×288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灰度预览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61" name=""/>
          <p:cNvSpPr/>
          <p:nvPr/>
        </p:nvSpPr>
        <p:spPr>
          <a:xfrm>
            <a:off x="4248000" y="1476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162" name=""/>
          <p:cNvSpPr txBox="1"/>
          <p:nvPr/>
        </p:nvSpPr>
        <p:spPr>
          <a:xfrm>
            <a:off x="4392000" y="1656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58d68d"/>
                </a:solidFill>
                <a:latin typeface="Noto Sans CJK SC"/>
              </a:rPr>
              <a:t>02</a:t>
            </a:r>
            <a:endParaRPr b="1" lang="en-US" sz="15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878000" y="1638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可解释检测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4878000" y="2034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固定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ROI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相似度与差异框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65" name=""/>
          <p:cNvSpPr/>
          <p:nvPr/>
        </p:nvSpPr>
        <p:spPr>
          <a:xfrm>
            <a:off x="8064000" y="1476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ffbe55"/>
            </a:solidFill>
            <a:round/>
          </a:ln>
        </p:spPr>
      </p:sp>
      <p:sp>
        <p:nvSpPr>
          <p:cNvPr id="166" name=""/>
          <p:cNvSpPr txBox="1"/>
          <p:nvPr/>
        </p:nvSpPr>
        <p:spPr>
          <a:xfrm>
            <a:off x="8208000" y="1656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ffbe55"/>
                </a:solidFill>
                <a:latin typeface="Noto Sans CJK SC"/>
              </a:rPr>
              <a:t>03</a:t>
            </a:r>
            <a:endParaRPr b="1" lang="en-US" sz="15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8694000" y="1638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触屏操作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694000" y="2034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录入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/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检测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停止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/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安全退出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69" name=""/>
          <p:cNvSpPr/>
          <p:nvPr/>
        </p:nvSpPr>
        <p:spPr>
          <a:xfrm>
            <a:off x="432000" y="3348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70" name=""/>
          <p:cNvSpPr txBox="1"/>
          <p:nvPr/>
        </p:nvSpPr>
        <p:spPr>
          <a:xfrm>
            <a:off x="576000" y="3528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35d0e5"/>
                </a:solidFill>
                <a:latin typeface="Noto Sans CJK SC"/>
              </a:rPr>
              <a:t>04</a:t>
            </a:r>
            <a:endParaRPr b="1" lang="en-US" sz="15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062000" y="3510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断电恢复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62000" y="3906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模板、阈值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历史编号续接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73" name=""/>
          <p:cNvSpPr/>
          <p:nvPr/>
        </p:nvSpPr>
        <p:spPr>
          <a:xfrm>
            <a:off x="4248000" y="3348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174" name=""/>
          <p:cNvSpPr txBox="1"/>
          <p:nvPr/>
        </p:nvSpPr>
        <p:spPr>
          <a:xfrm>
            <a:off x="4392000" y="3528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58d68d"/>
                </a:solidFill>
                <a:latin typeface="Noto Sans CJK SC"/>
              </a:rPr>
              <a:t>05</a:t>
            </a:r>
            <a:endParaRPr b="1" lang="en-US" sz="15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878000" y="3510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网络导出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878000" y="3906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状态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JSON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JSONL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与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FAIL BMP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178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179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关键问题 </a:t>
            </a:r>
            <a:r>
              <a:rPr b="1" lang="en-US" sz="1100" spc="-1" strike="noStrike">
                <a:solidFill>
                  <a:srgbClr val="35d0e5"/>
                </a:solidFill>
                <a:latin typeface="Noto Sans CJK SC"/>
              </a:rPr>
              <a:t>1 / 4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06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81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相机开启后蓝屏：一次结构体指针错位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88800" y="936000"/>
            <a:ext cx="11400120" cy="27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300" spc="-1" strike="noStrike">
                <a:solidFill>
                  <a:srgbClr val="afc3d5"/>
                </a:solidFill>
                <a:latin typeface="Noto Sans CJK SC"/>
              </a:rPr>
              <a:t>现象：</a:t>
            </a: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SC2336 stream on </a:t>
            </a:r>
            <a:r>
              <a:rPr b="0" lang="zh-CN" sz="1300" spc="-1" strike="noStrike">
                <a:solidFill>
                  <a:srgbClr val="afc3d5"/>
                </a:solidFill>
                <a:latin typeface="Noto Sans CJK SC"/>
              </a:rPr>
              <a:t>后触发 </a:t>
            </a: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RISC-V Load access fault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85" name=""/>
          <p:cNvSpPr/>
          <p:nvPr/>
        </p:nvSpPr>
        <p:spPr>
          <a:xfrm>
            <a:off x="504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186" name=""/>
          <p:cNvSpPr/>
          <p:nvPr/>
        </p:nvSpPr>
        <p:spPr>
          <a:xfrm>
            <a:off x="504000" y="1548000"/>
            <a:ext cx="43200" cy="3276000"/>
          </a:xfrm>
          <a:prstGeom prst="rect">
            <a:avLst/>
          </a:prstGeom>
          <a:solidFill>
            <a:srgbClr val="ff5c68"/>
          </a:solidFill>
          <a:ln w="12600">
            <a:solidFill>
              <a:srgbClr val="ff5c68"/>
            </a:solidFill>
            <a:round/>
          </a:ln>
        </p:spPr>
      </p:sp>
      <p:sp>
        <p:nvSpPr>
          <p:cNvPr id="187" name=""/>
          <p:cNvSpPr txBox="1"/>
          <p:nvPr/>
        </p:nvSpPr>
        <p:spPr>
          <a:xfrm>
            <a:off x="655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5c68"/>
                </a:solidFill>
                <a:latin typeface="Noto Sans CJK SC"/>
              </a:rPr>
              <a:t>现象</a:t>
            </a:r>
            <a:endParaRPr b="1" lang="en-US" sz="1000" spc="-1" strike="noStrike">
              <a:solidFill>
                <a:srgbClr val="ff5c68"/>
              </a:solidFill>
              <a:latin typeface="Noto Sans CJK SC"/>
              <a:ea typeface="Noto Sans CJK SC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55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CSI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启动即崩溃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55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MCAUSE=5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非法地址访问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相机与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状态互相干扰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90" name=""/>
          <p:cNvSpPr/>
          <p:nvPr/>
        </p:nvSpPr>
        <p:spPr>
          <a:xfrm>
            <a:off x="4410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191" name=""/>
          <p:cNvSpPr/>
          <p:nvPr/>
        </p:nvSpPr>
        <p:spPr>
          <a:xfrm>
            <a:off x="4410000" y="1548000"/>
            <a:ext cx="43200" cy="3276000"/>
          </a:xfrm>
          <a:prstGeom prst="rect">
            <a:avLst/>
          </a:prstGeom>
          <a:solidFill>
            <a:srgbClr val="ffbe55"/>
          </a:solidFill>
          <a:ln w="12600">
            <a:solidFill>
              <a:srgbClr val="ffbe55"/>
            </a:solidFill>
            <a:round/>
          </a:ln>
        </p:spPr>
      </p:sp>
      <p:sp>
        <p:nvSpPr>
          <p:cNvPr id="192" name=""/>
          <p:cNvSpPr txBox="1"/>
          <p:nvPr/>
        </p:nvSpPr>
        <p:spPr>
          <a:xfrm>
            <a:off x="4561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be55"/>
                </a:solidFill>
                <a:latin typeface="Noto Sans CJK SC"/>
              </a:rPr>
              <a:t>根因</a:t>
            </a:r>
            <a:endParaRPr b="1" lang="en-US" sz="10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561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父结构强转错误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561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imgdata_s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不是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sc2336_dev_s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的首成员，直接强转导致状态写入相邻内存。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95" name=""/>
          <p:cNvSpPr/>
          <p:nvPr/>
        </p:nvSpPr>
        <p:spPr>
          <a:xfrm>
            <a:off x="8316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196" name=""/>
          <p:cNvSpPr/>
          <p:nvPr/>
        </p:nvSpPr>
        <p:spPr>
          <a:xfrm>
            <a:off x="8316000" y="1548000"/>
            <a:ext cx="43200" cy="3276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197" name=""/>
          <p:cNvSpPr txBox="1"/>
          <p:nvPr/>
        </p:nvSpPr>
        <p:spPr>
          <a:xfrm>
            <a:off x="8467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解决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467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按成员偏移还原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467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使用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offsetof/container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方式获得父结构；修复后相机稳定出帧，蓝屏消失。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01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02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关键问题 </a:t>
            </a:r>
            <a:r>
              <a:rPr b="1" lang="en-US" sz="1100" spc="-1" strike="noStrike">
                <a:solidFill>
                  <a:srgbClr val="35d0e5"/>
                </a:solidFill>
                <a:latin typeface="Noto Sans CJK SC"/>
              </a:rPr>
              <a:t>2 / 4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07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04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板端能读，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Windows 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看不到：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SD 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写入没有真正落盘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07" name=""/>
          <p:cNvSpPr/>
          <p:nvPr/>
        </p:nvSpPr>
        <p:spPr>
          <a:xfrm>
            <a:off x="504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08" name=""/>
          <p:cNvSpPr/>
          <p:nvPr/>
        </p:nvSpPr>
        <p:spPr>
          <a:xfrm>
            <a:off x="504000" y="1548000"/>
            <a:ext cx="43200" cy="3276000"/>
          </a:xfrm>
          <a:prstGeom prst="rect">
            <a:avLst/>
          </a:prstGeom>
          <a:solidFill>
            <a:srgbClr val="ff5c68"/>
          </a:solidFill>
          <a:ln w="12600">
            <a:solidFill>
              <a:srgbClr val="ff5c68"/>
            </a:solidFill>
            <a:round/>
          </a:ln>
        </p:spPr>
      </p:sp>
      <p:sp>
        <p:nvSpPr>
          <p:cNvPr id="209" name=""/>
          <p:cNvSpPr txBox="1"/>
          <p:nvPr/>
        </p:nvSpPr>
        <p:spPr>
          <a:xfrm>
            <a:off x="655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5c68"/>
                </a:solidFill>
                <a:latin typeface="Noto Sans CJK SC"/>
              </a:rPr>
              <a:t>现象</a:t>
            </a:r>
            <a:endParaRPr b="1" lang="en-US" sz="1000" spc="-1" strike="noStrike">
              <a:solidFill>
                <a:srgbClr val="ff5c68"/>
              </a:solidFill>
              <a:latin typeface="Noto Sans CJK SC"/>
              <a:ea typeface="Noto Sans CJK SC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55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“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写成功”的假象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55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板端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echo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cat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umount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均正常；断电移卡后，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Windows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看不到新文件。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12" name=""/>
          <p:cNvSpPr/>
          <p:nvPr/>
        </p:nvSpPr>
        <p:spPr>
          <a:xfrm>
            <a:off x="4410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13" name=""/>
          <p:cNvSpPr/>
          <p:nvPr/>
        </p:nvSpPr>
        <p:spPr>
          <a:xfrm>
            <a:off x="4410000" y="1548000"/>
            <a:ext cx="43200" cy="3276000"/>
          </a:xfrm>
          <a:prstGeom prst="rect">
            <a:avLst/>
          </a:prstGeom>
          <a:solidFill>
            <a:srgbClr val="ffbe55"/>
          </a:solidFill>
          <a:ln w="12600">
            <a:solidFill>
              <a:srgbClr val="ffbe55"/>
            </a:solidFill>
            <a:round/>
          </a:ln>
        </p:spPr>
      </p:sp>
      <p:sp>
        <p:nvSpPr>
          <p:cNvPr id="214" name=""/>
          <p:cNvSpPr txBox="1"/>
          <p:nvPr/>
        </p:nvSpPr>
        <p:spPr>
          <a:xfrm>
            <a:off x="4561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be55"/>
                </a:solidFill>
                <a:latin typeface="Noto Sans CJK SC"/>
              </a:rPr>
              <a:t>定位</a:t>
            </a:r>
            <a:endParaRPr b="1" lang="en-US" sz="10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4561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GPIO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模拟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SPI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不可靠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561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逐层排除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目录、大小写、缓存与挂载问题，最终确认底层写完成状态异常。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17" name=""/>
          <p:cNvSpPr/>
          <p:nvPr/>
        </p:nvSpPr>
        <p:spPr>
          <a:xfrm>
            <a:off x="8316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18" name=""/>
          <p:cNvSpPr/>
          <p:nvPr/>
        </p:nvSpPr>
        <p:spPr>
          <a:xfrm>
            <a:off x="8316000" y="1548000"/>
            <a:ext cx="43200" cy="3276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219" name=""/>
          <p:cNvSpPr txBox="1"/>
          <p:nvPr/>
        </p:nvSpPr>
        <p:spPr>
          <a:xfrm>
            <a:off x="8467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解决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467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切换硬件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SPI2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8467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使用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GPIO Matrix +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软件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CS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，并校验写完成；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M4HW.TXT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断电后可被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Windows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读取。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23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24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关键问题 </a:t>
            </a:r>
            <a:r>
              <a:rPr b="1" lang="en-US" sz="1100" spc="-1" strike="noStrike">
                <a:solidFill>
                  <a:srgbClr val="35d0e5"/>
                </a:solidFill>
                <a:latin typeface="Noto Sans CJK SC"/>
              </a:rPr>
              <a:t>3–4 / 4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08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26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让历史数据可恢复，让网络服务可持续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29" name=""/>
          <p:cNvSpPr/>
          <p:nvPr/>
        </p:nvSpPr>
        <p:spPr>
          <a:xfrm>
            <a:off x="504000" y="1512000"/>
            <a:ext cx="5220000" cy="345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30" name=""/>
          <p:cNvSpPr/>
          <p:nvPr/>
        </p:nvSpPr>
        <p:spPr>
          <a:xfrm>
            <a:off x="504000" y="1512000"/>
            <a:ext cx="43200" cy="3456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31" name=""/>
          <p:cNvSpPr txBox="1"/>
          <p:nvPr/>
        </p:nvSpPr>
        <p:spPr>
          <a:xfrm>
            <a:off x="655200" y="1620000"/>
            <a:ext cx="4968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35d0e5"/>
                </a:solidFill>
                <a:latin typeface="Noto Sans CJK SC"/>
              </a:rPr>
              <a:t>问题 </a:t>
            </a:r>
            <a:r>
              <a:rPr b="1" lang="en-US" sz="1000" spc="-1" strike="noStrike">
                <a:solidFill>
                  <a:srgbClr val="35d0e5"/>
                </a:solidFill>
                <a:latin typeface="Noto Sans CJK SC"/>
              </a:rPr>
              <a:t>03 · </a:t>
            </a:r>
            <a:r>
              <a:rPr b="1" lang="zh-CN" sz="1000" spc="-1" strike="noStrike">
                <a:solidFill>
                  <a:srgbClr val="35d0e5"/>
                </a:solidFill>
                <a:latin typeface="Noto Sans CJK SC"/>
              </a:rPr>
              <a:t>历史记录</a:t>
            </a:r>
            <a:endParaRPr b="1" lang="en-US" sz="10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55200" y="1818000"/>
            <a:ext cx="49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重复编号与解析失败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55200" y="2124000"/>
            <a:ext cx="4950000" cy="273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原因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长文件名未启用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libc scanset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配置缺失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旧数据存在重复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ID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处理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启用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FAT LFN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，改为定宽解析；启动时统计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loaded / duplicates / skipped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，并从最大有效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ID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续号。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34" name=""/>
          <p:cNvSpPr/>
          <p:nvPr/>
        </p:nvSpPr>
        <p:spPr>
          <a:xfrm>
            <a:off x="6408000" y="1512000"/>
            <a:ext cx="5220000" cy="345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35" name=""/>
          <p:cNvSpPr/>
          <p:nvPr/>
        </p:nvSpPr>
        <p:spPr>
          <a:xfrm>
            <a:off x="6408000" y="1512000"/>
            <a:ext cx="43200" cy="3456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236" name=""/>
          <p:cNvSpPr txBox="1"/>
          <p:nvPr/>
        </p:nvSpPr>
        <p:spPr>
          <a:xfrm>
            <a:off x="6559200" y="1620000"/>
            <a:ext cx="4968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问题 </a:t>
            </a:r>
            <a:r>
              <a:rPr b="1" lang="en-US" sz="1000" spc="-1" strike="noStrike">
                <a:solidFill>
                  <a:srgbClr val="58d68d"/>
                </a:solidFill>
                <a:latin typeface="Noto Sans CJK SC"/>
              </a:rPr>
              <a:t>04 · HTTP </a:t>
            </a:r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服务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559200" y="1818000"/>
            <a:ext cx="49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连续导出后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8080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无响应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559200" y="2124000"/>
            <a:ext cx="4950000" cy="273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原因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慢客户端可能长期占用资源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单连接生命周期缺少边界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处理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启用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TCP backlog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与收发超时；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文件先生成 ≤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4 MiB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内存快照，再释放存储锁发送；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Exit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先停止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HTTP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40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41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成果与演示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09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43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实板验收结果与推荐展示顺序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46" name=""/>
          <p:cNvSpPr/>
          <p:nvPr/>
        </p:nvSpPr>
        <p:spPr>
          <a:xfrm>
            <a:off x="432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47" name=""/>
          <p:cNvSpPr txBox="1"/>
          <p:nvPr/>
        </p:nvSpPr>
        <p:spPr>
          <a:xfrm>
            <a:off x="504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10 ms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504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典型单次检测耗时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49" name=""/>
          <p:cNvSpPr/>
          <p:nvPr/>
        </p:nvSpPr>
        <p:spPr>
          <a:xfrm>
            <a:off x="3276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50" name=""/>
          <p:cNvSpPr txBox="1"/>
          <p:nvPr/>
        </p:nvSpPr>
        <p:spPr>
          <a:xfrm>
            <a:off x="3348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32 MB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3348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板载 </a:t>
            </a:r>
            <a:r>
              <a:rPr b="0" lang="en-US" sz="1000" spc="-1" strike="noStrike">
                <a:solidFill>
                  <a:srgbClr val="afc3d5"/>
                </a:solidFill>
                <a:latin typeface="Noto Sans CJK SC"/>
              </a:rPr>
              <a:t>PSRAM </a:t>
            </a: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已识别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52" name=""/>
          <p:cNvSpPr/>
          <p:nvPr/>
        </p:nvSpPr>
        <p:spPr>
          <a:xfrm>
            <a:off x="6120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53" name=""/>
          <p:cNvSpPr txBox="1"/>
          <p:nvPr/>
        </p:nvSpPr>
        <p:spPr>
          <a:xfrm>
            <a:off x="6192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0%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192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有线 </a:t>
            </a:r>
            <a:r>
              <a:rPr b="0" lang="en-US" sz="1000" spc="-1" strike="noStrike">
                <a:solidFill>
                  <a:srgbClr val="afc3d5"/>
                </a:solidFill>
                <a:latin typeface="Noto Sans CJK SC"/>
              </a:rPr>
              <a:t>Ping </a:t>
            </a: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实测丢包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55" name=""/>
          <p:cNvSpPr/>
          <p:nvPr/>
        </p:nvSpPr>
        <p:spPr>
          <a:xfrm>
            <a:off x="8964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56" name=""/>
          <p:cNvSpPr txBox="1"/>
          <p:nvPr/>
        </p:nvSpPr>
        <p:spPr>
          <a:xfrm>
            <a:off x="9036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3 </a:t>
            </a:r>
            <a:r>
              <a:rPr b="1" lang="zh-CN" sz="2400" spc="-1" strike="noStrike">
                <a:solidFill>
                  <a:srgbClr val="35d0e5"/>
                </a:solidFill>
                <a:latin typeface="Noto Sans CJK SC"/>
              </a:rPr>
              <a:t>类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9036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afc3d5"/>
                </a:solidFill>
                <a:latin typeface="Noto Sans CJK SC"/>
              </a:rPr>
              <a:t>HTTP </a:t>
            </a: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导出内容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58" name=""/>
          <p:cNvSpPr/>
          <p:nvPr/>
        </p:nvSpPr>
        <p:spPr>
          <a:xfrm>
            <a:off x="540000" y="2952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59" name=""/>
          <p:cNvSpPr txBox="1"/>
          <p:nvPr/>
        </p:nvSpPr>
        <p:spPr>
          <a:xfrm>
            <a:off x="572400" y="2980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1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72000" y="2934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上电自动进入应用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61" name=""/>
          <p:cNvSpPr/>
          <p:nvPr/>
        </p:nvSpPr>
        <p:spPr>
          <a:xfrm>
            <a:off x="4320000" y="2952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62" name=""/>
          <p:cNvSpPr txBox="1"/>
          <p:nvPr/>
        </p:nvSpPr>
        <p:spPr>
          <a:xfrm>
            <a:off x="4352400" y="2980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2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752000" y="2934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录入正确样本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64" name=""/>
          <p:cNvSpPr/>
          <p:nvPr/>
        </p:nvSpPr>
        <p:spPr>
          <a:xfrm>
            <a:off x="8100000" y="2952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65" name=""/>
          <p:cNvSpPr txBox="1"/>
          <p:nvPr/>
        </p:nvSpPr>
        <p:spPr>
          <a:xfrm>
            <a:off x="8132400" y="2980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3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532000" y="2934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正确件检测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PASS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67" name=""/>
          <p:cNvSpPr/>
          <p:nvPr/>
        </p:nvSpPr>
        <p:spPr>
          <a:xfrm>
            <a:off x="540000" y="3816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68" name=""/>
          <p:cNvSpPr txBox="1"/>
          <p:nvPr/>
        </p:nvSpPr>
        <p:spPr>
          <a:xfrm>
            <a:off x="572400" y="3844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4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972000" y="3798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制造差异并显示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FAIL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红框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70" name=""/>
          <p:cNvSpPr/>
          <p:nvPr/>
        </p:nvSpPr>
        <p:spPr>
          <a:xfrm>
            <a:off x="4320000" y="3816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71" name=""/>
          <p:cNvSpPr txBox="1"/>
          <p:nvPr/>
        </p:nvSpPr>
        <p:spPr>
          <a:xfrm>
            <a:off x="4352400" y="3844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5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752000" y="3798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PC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下载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JSONL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与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FAIL BMP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73" name=""/>
          <p:cNvSpPr/>
          <p:nvPr/>
        </p:nvSpPr>
        <p:spPr>
          <a:xfrm>
            <a:off x="8100000" y="3816000"/>
            <a:ext cx="324000" cy="324000"/>
          </a:xfrm>
          <a:prstGeom prst="ellipse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274" name=""/>
          <p:cNvSpPr txBox="1"/>
          <p:nvPr/>
        </p:nvSpPr>
        <p:spPr>
          <a:xfrm>
            <a:off x="8132400" y="3844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6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8532000" y="3798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触屏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Exit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安全卸载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SD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77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78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总结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10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0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小而确定：让装配错误在工位上被发现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40000" y="1548000"/>
            <a:ext cx="756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2500" spc="-1" strike="noStrike">
                <a:solidFill>
                  <a:srgbClr val="f4f8fc"/>
                </a:solidFill>
                <a:latin typeface="Noto Sans CJK SC"/>
              </a:rPr>
              <a:t>VelaPoka </a:t>
            </a:r>
            <a:r>
              <a:rPr b="1" lang="zh-CN" sz="2500" spc="-1" strike="noStrike">
                <a:solidFill>
                  <a:srgbClr val="f4f8fc"/>
                </a:solidFill>
                <a:latin typeface="Noto Sans CJK SC"/>
              </a:rPr>
              <a:t>不是通用物体识别系统。</a:t>
            </a:r>
            <a:endParaRPr b="1" lang="en-US" sz="25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40000" y="2052000"/>
            <a:ext cx="7560000" cy="93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它通过固定产品、固定相机、固定照明和固定 </a:t>
            </a:r>
            <a:r>
              <a:rPr b="0" lang="en-US" sz="1800" spc="-1" strike="noStrike">
                <a:solidFill>
                  <a:srgbClr val="afc3d5"/>
                </a:solidFill>
                <a:latin typeface="Noto Sans CJK SC"/>
              </a:rPr>
              <a:t>ROI</a:t>
            </a:r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，</a:t>
            </a:r>
            <a:endParaRPr b="0" lang="en-US" sz="18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在 </a:t>
            </a:r>
            <a:r>
              <a:rPr b="0" lang="en-US" sz="1800" spc="-1" strike="noStrike">
                <a:solidFill>
                  <a:srgbClr val="afc3d5"/>
                </a:solidFill>
                <a:latin typeface="Noto Sans CJK SC"/>
              </a:rPr>
              <a:t>ESP32-P4 + openvela </a:t>
            </a:r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上实现可解释、可离线、可追溯的视觉检查闭环。</a:t>
            </a:r>
            <a:endParaRPr b="0" lang="en-US" sz="18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5" name=""/>
          <p:cNvSpPr/>
          <p:nvPr/>
        </p:nvSpPr>
        <p:spPr>
          <a:xfrm>
            <a:off x="576000" y="3780000"/>
            <a:ext cx="3240000" cy="115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286" name=""/>
          <p:cNvSpPr txBox="1"/>
          <p:nvPr/>
        </p:nvSpPr>
        <p:spPr>
          <a:xfrm>
            <a:off x="720000" y="3924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1900" spc="-1" strike="noStrike">
                <a:solidFill>
                  <a:srgbClr val="35d0e5"/>
                </a:solidFill>
                <a:latin typeface="Noto Sans CJK SC"/>
              </a:rPr>
              <a:t>端侧</a:t>
            </a:r>
            <a:endParaRPr b="1" lang="en-US" sz="19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20000" y="4320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无需云端与复杂 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AI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模型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8" name=""/>
          <p:cNvSpPr/>
          <p:nvPr/>
        </p:nvSpPr>
        <p:spPr>
          <a:xfrm>
            <a:off x="4176000" y="3780000"/>
            <a:ext cx="3240000" cy="115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289" name=""/>
          <p:cNvSpPr txBox="1"/>
          <p:nvPr/>
        </p:nvSpPr>
        <p:spPr>
          <a:xfrm>
            <a:off x="4320000" y="3924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1900" spc="-1" strike="noStrike">
                <a:solidFill>
                  <a:srgbClr val="58d68d"/>
                </a:solidFill>
                <a:latin typeface="Noto Sans CJK SC"/>
              </a:rPr>
              <a:t>闭环</a:t>
            </a:r>
            <a:endParaRPr b="1" lang="en-US" sz="19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320000" y="4320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采集、检测、显示、留档、导出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91" name=""/>
          <p:cNvSpPr/>
          <p:nvPr/>
        </p:nvSpPr>
        <p:spPr>
          <a:xfrm>
            <a:off x="7776000" y="3780000"/>
            <a:ext cx="3240000" cy="115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292" name=""/>
          <p:cNvSpPr txBox="1"/>
          <p:nvPr/>
        </p:nvSpPr>
        <p:spPr>
          <a:xfrm>
            <a:off x="7920000" y="3924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1900" spc="-1" strike="noStrike">
                <a:solidFill>
                  <a:srgbClr val="35d0e5"/>
                </a:solidFill>
                <a:latin typeface="Noto Sans CJK SC"/>
              </a:rPr>
              <a:t>可维护</a:t>
            </a:r>
            <a:endParaRPr b="1" lang="en-US" sz="19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920000" y="4320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NSH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恢复入口与模块化任务架构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40000" y="5436000"/>
            <a:ext cx="540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2200" spc="-1" strike="noStrike">
                <a:solidFill>
                  <a:srgbClr val="35d0e5"/>
                </a:solidFill>
                <a:latin typeface="Noto Sans CJK SC"/>
              </a:rPr>
              <a:t>THANK YOU</a:t>
            </a:r>
            <a:endParaRPr b="1" lang="en-US" sz="22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2026-09-06T21:39:08Z</dcterms:modified>
  <cp:revision>1</cp:revision>
  <dc:subject/>
  <dc:title/>
</cp:coreProperties>
</file>